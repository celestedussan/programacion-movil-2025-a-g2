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Semi-Bold" charset="1" panose="00000700000000000000"/>
      <p:regular r:id="rId16"/>
    </p:embeddedFont>
    <p:embeddedFont>
      <p:font typeface="Open Sauce Light" charset="1" panose="000004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Italics" charset="1" panose="00000500000000000000"/>
      <p:regular r:id="rId20"/>
    </p:embeddedFont>
    <p:embeddedFont>
      <p:font typeface="Open Sauce Bold Italics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14432" y="4371352"/>
            <a:ext cx="13659136" cy="1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COMPARACIÓN DE FLUTTER, REACT NATIVE Y IONIC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7923088"/>
            <a:ext cx="6687255" cy="75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BRAYAN SMITH BEDOYA 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JHON SEBASTIAN MOLINA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3500"/>
            <a:ext cx="8317387" cy="5143500"/>
            <a:chOff x="0" y="0"/>
            <a:chExt cx="11089849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415" r="0" b="3415"/>
            <a:stretch>
              <a:fillRect/>
            </a:stretch>
          </p:blipFill>
          <p:spPr>
            <a:xfrm flipH="false" flipV="false">
              <a:off x="0" y="0"/>
              <a:ext cx="11089849" cy="6858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317387" y="-113711"/>
            <a:ext cx="10099642" cy="10627543"/>
            <a:chOff x="0" y="0"/>
            <a:chExt cx="2659988" cy="2799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9988" cy="2799024"/>
            </a:xfrm>
            <a:custGeom>
              <a:avLst/>
              <a:gdLst/>
              <a:ahLst/>
              <a:cxnLst/>
              <a:rect r="r" b="b" t="t" l="l"/>
              <a:pathLst>
                <a:path h="2799024" w="2659988">
                  <a:moveTo>
                    <a:pt x="0" y="0"/>
                  </a:moveTo>
                  <a:lnTo>
                    <a:pt x="2659988" y="0"/>
                  </a:lnTo>
                  <a:lnTo>
                    <a:pt x="2659988" y="2799024"/>
                  </a:lnTo>
                  <a:lnTo>
                    <a:pt x="0" y="2799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659988" cy="282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21885" y="1715317"/>
            <a:ext cx="4873616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spc="109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INDICE DE CONTENIDOS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84073" y="3571240"/>
            <a:ext cx="4152917" cy="232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b="true" sz="2199" spc="604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INTRODUCCIÓN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b="true" sz="2199" spc="604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COMPARACIÓN GENERAL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b="true" sz="2199" spc="604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VENTAJAS Y DESVENTAJAS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b="true" sz="2199" spc="604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03865" y="3517917"/>
            <a:ext cx="606561" cy="240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b="true" sz="2276" spc="626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3</a:t>
            </a:r>
          </a:p>
          <a:p>
            <a:pPr algn="r">
              <a:lnSpc>
                <a:spcPts val="3187"/>
              </a:lnSpc>
            </a:pPr>
            <a:r>
              <a:rPr lang="en-US" b="true" sz="2276" spc="626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</a:t>
            </a:r>
          </a:p>
          <a:p>
            <a:pPr algn="r">
              <a:lnSpc>
                <a:spcPts val="3187"/>
              </a:lnSpc>
            </a:pPr>
          </a:p>
          <a:p>
            <a:pPr algn="r">
              <a:lnSpc>
                <a:spcPts val="3187"/>
              </a:lnSpc>
            </a:pPr>
            <a:r>
              <a:rPr lang="en-US" b="true" sz="2276" spc="626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8</a:t>
            </a:r>
          </a:p>
          <a:p>
            <a:pPr algn="r">
              <a:lnSpc>
                <a:spcPts val="3187"/>
              </a:lnSpc>
            </a:pPr>
          </a:p>
          <a:p>
            <a:pPr algn="r">
              <a:lnSpc>
                <a:spcPts val="3187"/>
              </a:lnSpc>
            </a:pPr>
            <a:r>
              <a:rPr lang="en-US" b="true" sz="2276" spc="626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1/ 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354556" y="145453"/>
            <a:ext cx="4859578" cy="2836779"/>
          </a:xfrm>
          <a:custGeom>
            <a:avLst/>
            <a:gdLst/>
            <a:ahLst/>
            <a:cxnLst/>
            <a:rect r="r" b="b" t="t" l="l"/>
            <a:pathLst>
              <a:path h="2836779" w="4859578">
                <a:moveTo>
                  <a:pt x="0" y="0"/>
                </a:moveTo>
                <a:lnTo>
                  <a:pt x="4859578" y="0"/>
                </a:lnTo>
                <a:lnTo>
                  <a:pt x="4859578" y="2836779"/>
                </a:lnTo>
                <a:lnTo>
                  <a:pt x="0" y="2836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58916" y="3059652"/>
            <a:ext cx="4976805" cy="2836779"/>
          </a:xfrm>
          <a:custGeom>
            <a:avLst/>
            <a:gdLst/>
            <a:ahLst/>
            <a:cxnLst/>
            <a:rect r="r" b="b" t="t" l="l"/>
            <a:pathLst>
              <a:path h="2836779" w="4976805">
                <a:moveTo>
                  <a:pt x="0" y="0"/>
                </a:moveTo>
                <a:lnTo>
                  <a:pt x="4976805" y="0"/>
                </a:lnTo>
                <a:lnTo>
                  <a:pt x="4976805" y="2836779"/>
                </a:lnTo>
                <a:lnTo>
                  <a:pt x="0" y="2836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54556" y="5973851"/>
            <a:ext cx="4859578" cy="2836779"/>
          </a:xfrm>
          <a:custGeom>
            <a:avLst/>
            <a:gdLst/>
            <a:ahLst/>
            <a:cxnLst/>
            <a:rect r="r" b="b" t="t" l="l"/>
            <a:pathLst>
              <a:path h="2836779" w="4859578">
                <a:moveTo>
                  <a:pt x="0" y="0"/>
                </a:moveTo>
                <a:lnTo>
                  <a:pt x="4859578" y="0"/>
                </a:lnTo>
                <a:lnTo>
                  <a:pt x="4859578" y="2836779"/>
                </a:lnTo>
                <a:lnTo>
                  <a:pt x="0" y="28367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95" t="0" r="-559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81075"/>
            <a:ext cx="45343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¿POR QUÉ ES IMPORTANTE ELEGIR BIEN LA PLATAFORMA?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15846"/>
            <a:ext cx="5455490" cy="691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528" indent="-191264" lvl="1">
              <a:lnSpc>
                <a:spcPts val="2480"/>
              </a:lnSpc>
              <a:buAutoNum type="arabicPeriod" startAt="1"/>
            </a:pPr>
            <a:r>
              <a:rPr lang="en-US" b="true" sz="177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Impacto en el proyecto:</a:t>
            </a: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La plataforma afecta el rendimiento, el costo y el tiempo de desarrollo.</a:t>
            </a:r>
          </a:p>
          <a:p>
            <a:pPr algn="l" marL="382528" indent="-191264" lvl="1">
              <a:lnSpc>
                <a:spcPts val="2693"/>
              </a:lnSpc>
              <a:buAutoNum type="arabicPeriod" startAt="1"/>
            </a:pP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177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Decisión clave:</a:t>
            </a: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No todas ofrecen lo mismo, hay que elegir según las necesidades del proyecto.</a:t>
            </a:r>
          </a:p>
          <a:p>
            <a:pPr algn="l">
              <a:lnSpc>
                <a:spcPts val="2693"/>
              </a:lnSpc>
            </a:pPr>
          </a:p>
          <a:p>
            <a:pPr algn="l">
              <a:lnSpc>
                <a:spcPts val="2693"/>
              </a:lnSpc>
            </a:pP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Las 3 opciones más populares:  </a:t>
            </a:r>
          </a:p>
          <a:p>
            <a:pPr algn="l">
              <a:lnSpc>
                <a:spcPts val="2693"/>
              </a:lnSpc>
            </a:pPr>
          </a:p>
          <a:p>
            <a:pPr algn="l" marL="382528" indent="-191264" lvl="1">
              <a:lnSpc>
                <a:spcPts val="2693"/>
              </a:lnSpc>
              <a:buFont typeface="Arial"/>
              <a:buChar char="•"/>
            </a:pP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🟦 </a:t>
            </a:r>
            <a:r>
              <a:rPr lang="en-US" sz="1771" i="true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Flutter</a:t>
            </a: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(Rápido, potente, pero con curva de aprendizaje alta).</a:t>
            </a:r>
          </a:p>
          <a:p>
            <a:pPr algn="l" marL="382528" indent="-191264" lvl="1">
              <a:lnSpc>
                <a:spcPts val="2693"/>
              </a:lnSpc>
              <a:buFont typeface="Arial"/>
              <a:buChar char="•"/>
            </a:pP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🟩 </a:t>
            </a:r>
            <a:r>
              <a:rPr lang="en-US" sz="1771" i="true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React Native</a:t>
            </a: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(Popular, fácil de usar, pero menor rendimiento).</a:t>
            </a:r>
          </a:p>
          <a:p>
            <a:pPr algn="l" marL="382528" indent="-191264" lvl="1">
              <a:lnSpc>
                <a:spcPts val="2693"/>
              </a:lnSpc>
              <a:buFont typeface="Arial"/>
              <a:buChar char="•"/>
            </a:pP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🟨 </a:t>
            </a:r>
            <a:r>
              <a:rPr lang="en-US" sz="1771" i="true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Ionic</a:t>
            </a:r>
            <a:r>
              <a:rPr lang="en-US" sz="177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(Desarrollo rápido, pero menos eficiente).</a:t>
            </a:r>
          </a:p>
          <a:p>
            <a:pPr algn="l">
              <a:lnSpc>
                <a:spcPts val="2693"/>
              </a:lnSpc>
            </a:pPr>
          </a:p>
          <a:p>
            <a:pPr algn="l">
              <a:lnSpc>
                <a:spcPts val="2693"/>
              </a:lnSpc>
            </a:pPr>
          </a:p>
          <a:p>
            <a:pPr algn="l">
              <a:lnSpc>
                <a:spcPts val="2693"/>
              </a:lnSpc>
            </a:pPr>
          </a:p>
          <a:p>
            <a:pPr algn="l">
              <a:lnSpc>
                <a:spcPts val="2693"/>
              </a:lnSpc>
            </a:pPr>
          </a:p>
          <a:p>
            <a:pPr algn="l">
              <a:lnSpc>
                <a:spcPts val="2693"/>
              </a:lnSpc>
            </a:pPr>
          </a:p>
          <a:p>
            <a:pPr algn="l">
              <a:lnSpc>
                <a:spcPts val="269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1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2/ COMPARACIÓN GENERAL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4205" t="0" r="1601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11757581"/>
            <a:chOff x="0" y="0"/>
            <a:chExt cx="2408296" cy="3096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3096647"/>
            </a:xfrm>
            <a:custGeom>
              <a:avLst/>
              <a:gdLst/>
              <a:ahLst/>
              <a:cxnLst/>
              <a:rect r="r" b="b" t="t" l="l"/>
              <a:pathLst>
                <a:path h="309664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096647"/>
                  </a:lnTo>
                  <a:lnTo>
                    <a:pt x="0" y="3096647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3134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5711" y="1028700"/>
            <a:ext cx="4683327" cy="1417922"/>
            <a:chOff x="0" y="0"/>
            <a:chExt cx="6244435" cy="189056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244435" cy="1890562"/>
              <a:chOff x="0" y="0"/>
              <a:chExt cx="2303335" cy="6973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303336" cy="697357"/>
              </a:xfrm>
              <a:custGeom>
                <a:avLst/>
                <a:gdLst/>
                <a:ahLst/>
                <a:cxnLst/>
                <a:rect r="r" b="b" t="t" l="l"/>
                <a:pathLst>
                  <a:path h="697357" w="2303336">
                    <a:moveTo>
                      <a:pt x="2178875" y="697357"/>
                    </a:moveTo>
                    <a:lnTo>
                      <a:pt x="124460" y="697357"/>
                    </a:lnTo>
                    <a:cubicBezTo>
                      <a:pt x="55880" y="697357"/>
                      <a:pt x="0" y="641477"/>
                      <a:pt x="0" y="57289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572897"/>
                    </a:lnTo>
                    <a:cubicBezTo>
                      <a:pt x="2303336" y="641477"/>
                      <a:pt x="2247455" y="697357"/>
                      <a:pt x="2178876" y="697357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4532" y="715648"/>
              <a:ext cx="5375372" cy="364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b="true" sz="1700" spc="467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FLUTTER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5711" y="4434539"/>
            <a:ext cx="4683327" cy="1417922"/>
            <a:chOff x="0" y="0"/>
            <a:chExt cx="6244435" cy="189056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244435" cy="1890562"/>
              <a:chOff x="0" y="0"/>
              <a:chExt cx="2303335" cy="69735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03336" cy="697357"/>
              </a:xfrm>
              <a:custGeom>
                <a:avLst/>
                <a:gdLst/>
                <a:ahLst/>
                <a:cxnLst/>
                <a:rect r="r" b="b" t="t" l="l"/>
                <a:pathLst>
                  <a:path h="697357" w="2303336">
                    <a:moveTo>
                      <a:pt x="2178875" y="697357"/>
                    </a:moveTo>
                    <a:lnTo>
                      <a:pt x="124460" y="697357"/>
                    </a:lnTo>
                    <a:cubicBezTo>
                      <a:pt x="55880" y="697357"/>
                      <a:pt x="0" y="641477"/>
                      <a:pt x="0" y="57289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572897"/>
                    </a:lnTo>
                    <a:cubicBezTo>
                      <a:pt x="2303336" y="641477"/>
                      <a:pt x="2247455" y="697357"/>
                      <a:pt x="2178876" y="697357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4532" y="715648"/>
              <a:ext cx="5375372" cy="364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b="true" sz="1700" spc="467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REACT NATIVE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711" y="8170200"/>
            <a:ext cx="4683327" cy="1235768"/>
            <a:chOff x="0" y="0"/>
            <a:chExt cx="6244435" cy="164769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244435" cy="1647691"/>
              <a:chOff x="0" y="0"/>
              <a:chExt cx="2303335" cy="660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03336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303336">
                    <a:moveTo>
                      <a:pt x="2178875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535940"/>
                    </a:lnTo>
                    <a:cubicBezTo>
                      <a:pt x="2303336" y="604520"/>
                      <a:pt x="2247455" y="660400"/>
                      <a:pt x="2178876" y="660400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4532" y="715648"/>
              <a:ext cx="5375372" cy="364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b="true" sz="1700" spc="467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IONIC 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243943" y="402314"/>
            <a:ext cx="2225917" cy="2225917"/>
          </a:xfrm>
          <a:custGeom>
            <a:avLst/>
            <a:gdLst/>
            <a:ahLst/>
            <a:cxnLst/>
            <a:rect r="r" b="b" t="t" l="l"/>
            <a:pathLst>
              <a:path h="2225917" w="2225917">
                <a:moveTo>
                  <a:pt x="0" y="0"/>
                </a:moveTo>
                <a:lnTo>
                  <a:pt x="2225916" y="0"/>
                </a:lnTo>
                <a:lnTo>
                  <a:pt x="2225916" y="2225917"/>
                </a:lnTo>
                <a:lnTo>
                  <a:pt x="0" y="2225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31625" y="4028238"/>
            <a:ext cx="1850553" cy="1850553"/>
          </a:xfrm>
          <a:custGeom>
            <a:avLst/>
            <a:gdLst/>
            <a:ahLst/>
            <a:cxnLst/>
            <a:rect r="r" b="b" t="t" l="l"/>
            <a:pathLst>
              <a:path h="1850553" w="1850553">
                <a:moveTo>
                  <a:pt x="0" y="0"/>
                </a:moveTo>
                <a:lnTo>
                  <a:pt x="1850553" y="0"/>
                </a:lnTo>
                <a:lnTo>
                  <a:pt x="1850553" y="1850553"/>
                </a:lnTo>
                <a:lnTo>
                  <a:pt x="0" y="1850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31625" y="7815727"/>
            <a:ext cx="1944713" cy="1944713"/>
          </a:xfrm>
          <a:custGeom>
            <a:avLst/>
            <a:gdLst/>
            <a:ahLst/>
            <a:cxnLst/>
            <a:rect r="r" b="b" t="t" l="l"/>
            <a:pathLst>
              <a:path h="1944713" w="1944713">
                <a:moveTo>
                  <a:pt x="0" y="0"/>
                </a:moveTo>
                <a:lnTo>
                  <a:pt x="1944713" y="0"/>
                </a:lnTo>
                <a:lnTo>
                  <a:pt x="1944713" y="1944713"/>
                </a:lnTo>
                <a:lnTo>
                  <a:pt x="0" y="1944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67611" y="7815727"/>
            <a:ext cx="1886805" cy="2159433"/>
          </a:xfrm>
          <a:custGeom>
            <a:avLst/>
            <a:gdLst/>
            <a:ahLst/>
            <a:cxnLst/>
            <a:rect r="r" b="b" t="t" l="l"/>
            <a:pathLst>
              <a:path h="2159433" w="1886805">
                <a:moveTo>
                  <a:pt x="0" y="0"/>
                </a:moveTo>
                <a:lnTo>
                  <a:pt x="1886805" y="0"/>
                </a:lnTo>
                <a:lnTo>
                  <a:pt x="1886805" y="2159433"/>
                </a:lnTo>
                <a:lnTo>
                  <a:pt x="0" y="2159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563949" y="7693613"/>
            <a:ext cx="2403662" cy="2403662"/>
          </a:xfrm>
          <a:custGeom>
            <a:avLst/>
            <a:gdLst/>
            <a:ahLst/>
            <a:cxnLst/>
            <a:rect r="r" b="b" t="t" l="l"/>
            <a:pathLst>
              <a:path h="2403662" w="2403662">
                <a:moveTo>
                  <a:pt x="0" y="0"/>
                </a:moveTo>
                <a:lnTo>
                  <a:pt x="2403662" y="0"/>
                </a:lnTo>
                <a:lnTo>
                  <a:pt x="2403662" y="2403662"/>
                </a:lnTo>
                <a:lnTo>
                  <a:pt x="0" y="24036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929104" y="953429"/>
            <a:ext cx="2864773" cy="1568463"/>
          </a:xfrm>
          <a:custGeom>
            <a:avLst/>
            <a:gdLst/>
            <a:ahLst/>
            <a:cxnLst/>
            <a:rect r="r" b="b" t="t" l="l"/>
            <a:pathLst>
              <a:path h="1568463" w="2864773">
                <a:moveTo>
                  <a:pt x="0" y="0"/>
                </a:moveTo>
                <a:lnTo>
                  <a:pt x="2864773" y="0"/>
                </a:lnTo>
                <a:lnTo>
                  <a:pt x="2864773" y="1568464"/>
                </a:lnTo>
                <a:lnTo>
                  <a:pt x="0" y="1568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929104" y="4359268"/>
            <a:ext cx="2864773" cy="1568463"/>
          </a:xfrm>
          <a:custGeom>
            <a:avLst/>
            <a:gdLst/>
            <a:ahLst/>
            <a:cxnLst/>
            <a:rect r="r" b="b" t="t" l="l"/>
            <a:pathLst>
              <a:path h="1568463" w="2864773">
                <a:moveTo>
                  <a:pt x="0" y="0"/>
                </a:moveTo>
                <a:lnTo>
                  <a:pt x="2864773" y="0"/>
                </a:lnTo>
                <a:lnTo>
                  <a:pt x="2864773" y="1568464"/>
                </a:lnTo>
                <a:lnTo>
                  <a:pt x="0" y="1568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929104" y="8003852"/>
            <a:ext cx="2864773" cy="1568463"/>
          </a:xfrm>
          <a:custGeom>
            <a:avLst/>
            <a:gdLst/>
            <a:ahLst/>
            <a:cxnLst/>
            <a:rect r="r" b="b" t="t" l="l"/>
            <a:pathLst>
              <a:path h="1568463" w="2864773">
                <a:moveTo>
                  <a:pt x="0" y="0"/>
                </a:moveTo>
                <a:lnTo>
                  <a:pt x="2864773" y="0"/>
                </a:lnTo>
                <a:lnTo>
                  <a:pt x="2864773" y="1568463"/>
                </a:lnTo>
                <a:lnTo>
                  <a:pt x="0" y="1568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452" y="1851489"/>
            <a:ext cx="4352628" cy="3959947"/>
          </a:xfrm>
          <a:custGeom>
            <a:avLst/>
            <a:gdLst/>
            <a:ahLst/>
            <a:cxnLst/>
            <a:rect r="r" b="b" t="t" l="l"/>
            <a:pathLst>
              <a:path h="3959947" w="4352628">
                <a:moveTo>
                  <a:pt x="0" y="0"/>
                </a:moveTo>
                <a:lnTo>
                  <a:pt x="4352628" y="0"/>
                </a:lnTo>
                <a:lnTo>
                  <a:pt x="4352628" y="3959947"/>
                </a:lnTo>
                <a:lnTo>
                  <a:pt x="0" y="3959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8" r="0" b="-90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36768" y="1851489"/>
            <a:ext cx="4851392" cy="4082719"/>
          </a:xfrm>
          <a:custGeom>
            <a:avLst/>
            <a:gdLst/>
            <a:ahLst/>
            <a:cxnLst/>
            <a:rect r="r" b="b" t="t" l="l"/>
            <a:pathLst>
              <a:path h="4082719" w="4851392">
                <a:moveTo>
                  <a:pt x="0" y="0"/>
                </a:moveTo>
                <a:lnTo>
                  <a:pt x="4851392" y="0"/>
                </a:lnTo>
                <a:lnTo>
                  <a:pt x="4851392" y="4082720"/>
                </a:lnTo>
                <a:lnTo>
                  <a:pt x="0" y="4082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607" t="0" r="-3370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0521" y="1851489"/>
            <a:ext cx="3938779" cy="3959947"/>
          </a:xfrm>
          <a:custGeom>
            <a:avLst/>
            <a:gdLst/>
            <a:ahLst/>
            <a:cxnLst/>
            <a:rect r="r" b="b" t="t" l="l"/>
            <a:pathLst>
              <a:path h="3959947" w="3938779">
                <a:moveTo>
                  <a:pt x="0" y="0"/>
                </a:moveTo>
                <a:lnTo>
                  <a:pt x="3938779" y="0"/>
                </a:lnTo>
                <a:lnTo>
                  <a:pt x="3938779" y="3959947"/>
                </a:lnTo>
                <a:lnTo>
                  <a:pt x="0" y="3959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036" r="0" b="-603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23427" y="6072350"/>
            <a:ext cx="1478074" cy="1186155"/>
          </a:xfrm>
          <a:custGeom>
            <a:avLst/>
            <a:gdLst/>
            <a:ahLst/>
            <a:cxnLst/>
            <a:rect r="r" b="b" t="t" l="l"/>
            <a:pathLst>
              <a:path h="1186155" w="1478074">
                <a:moveTo>
                  <a:pt x="0" y="0"/>
                </a:moveTo>
                <a:lnTo>
                  <a:pt x="1478074" y="0"/>
                </a:lnTo>
                <a:lnTo>
                  <a:pt x="1478074" y="1186154"/>
                </a:lnTo>
                <a:lnTo>
                  <a:pt x="0" y="1186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65161" y="5989245"/>
            <a:ext cx="1073092" cy="1073092"/>
          </a:xfrm>
          <a:custGeom>
            <a:avLst/>
            <a:gdLst/>
            <a:ahLst/>
            <a:cxnLst/>
            <a:rect r="r" b="b" t="t" l="l"/>
            <a:pathLst>
              <a:path h="1073092" w="1073092">
                <a:moveTo>
                  <a:pt x="0" y="0"/>
                </a:moveTo>
                <a:lnTo>
                  <a:pt x="1073091" y="0"/>
                </a:lnTo>
                <a:lnTo>
                  <a:pt x="1073091" y="1073091"/>
                </a:lnTo>
                <a:lnTo>
                  <a:pt x="0" y="1073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86928" y="6072350"/>
            <a:ext cx="989987" cy="989987"/>
          </a:xfrm>
          <a:custGeom>
            <a:avLst/>
            <a:gdLst/>
            <a:ahLst/>
            <a:cxnLst/>
            <a:rect r="r" b="b" t="t" l="l"/>
            <a:pathLst>
              <a:path h="989987" w="989987">
                <a:moveTo>
                  <a:pt x="0" y="0"/>
                </a:moveTo>
                <a:lnTo>
                  <a:pt x="989986" y="0"/>
                </a:lnTo>
                <a:lnTo>
                  <a:pt x="989986" y="989986"/>
                </a:lnTo>
                <a:lnTo>
                  <a:pt x="0" y="9899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7452" y="7830415"/>
            <a:ext cx="1100575" cy="1100575"/>
          </a:xfrm>
          <a:custGeom>
            <a:avLst/>
            <a:gdLst/>
            <a:ahLst/>
            <a:cxnLst/>
            <a:rect r="r" b="b" t="t" l="l"/>
            <a:pathLst>
              <a:path h="1100575" w="1100575">
                <a:moveTo>
                  <a:pt x="0" y="0"/>
                </a:moveTo>
                <a:lnTo>
                  <a:pt x="1100575" y="0"/>
                </a:lnTo>
                <a:lnTo>
                  <a:pt x="1100575" y="1100575"/>
                </a:lnTo>
                <a:lnTo>
                  <a:pt x="0" y="1100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0138" y="7409544"/>
            <a:ext cx="1942317" cy="1942317"/>
          </a:xfrm>
          <a:custGeom>
            <a:avLst/>
            <a:gdLst/>
            <a:ahLst/>
            <a:cxnLst/>
            <a:rect r="r" b="b" t="t" l="l"/>
            <a:pathLst>
              <a:path h="1942317" w="1942317">
                <a:moveTo>
                  <a:pt x="0" y="0"/>
                </a:moveTo>
                <a:lnTo>
                  <a:pt x="1942317" y="0"/>
                </a:lnTo>
                <a:lnTo>
                  <a:pt x="1942317" y="1942317"/>
                </a:lnTo>
                <a:lnTo>
                  <a:pt x="0" y="19423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11530" y="7830415"/>
            <a:ext cx="1822568" cy="1006969"/>
          </a:xfrm>
          <a:custGeom>
            <a:avLst/>
            <a:gdLst/>
            <a:ahLst/>
            <a:cxnLst/>
            <a:rect r="r" b="b" t="t" l="l"/>
            <a:pathLst>
              <a:path h="1006969" w="1822568">
                <a:moveTo>
                  <a:pt x="0" y="0"/>
                </a:moveTo>
                <a:lnTo>
                  <a:pt x="1822567" y="0"/>
                </a:lnTo>
                <a:lnTo>
                  <a:pt x="1822567" y="1006969"/>
                </a:lnTo>
                <a:lnTo>
                  <a:pt x="0" y="1006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27887" y="7911908"/>
            <a:ext cx="937589" cy="937589"/>
          </a:xfrm>
          <a:custGeom>
            <a:avLst/>
            <a:gdLst/>
            <a:ahLst/>
            <a:cxnLst/>
            <a:rect r="r" b="b" t="t" l="l"/>
            <a:pathLst>
              <a:path h="937589" w="937589">
                <a:moveTo>
                  <a:pt x="0" y="0"/>
                </a:moveTo>
                <a:lnTo>
                  <a:pt x="937589" y="0"/>
                </a:lnTo>
                <a:lnTo>
                  <a:pt x="937589" y="937589"/>
                </a:lnTo>
                <a:lnTo>
                  <a:pt x="0" y="937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84575" y="7702813"/>
            <a:ext cx="1355778" cy="1355778"/>
          </a:xfrm>
          <a:custGeom>
            <a:avLst/>
            <a:gdLst/>
            <a:ahLst/>
            <a:cxnLst/>
            <a:rect r="r" b="b" t="t" l="l"/>
            <a:pathLst>
              <a:path h="1355778" w="1355778">
                <a:moveTo>
                  <a:pt x="0" y="0"/>
                </a:moveTo>
                <a:lnTo>
                  <a:pt x="1355778" y="0"/>
                </a:lnTo>
                <a:lnTo>
                  <a:pt x="1355778" y="1355779"/>
                </a:lnTo>
                <a:lnTo>
                  <a:pt x="0" y="1355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54703" y="7911908"/>
            <a:ext cx="969038" cy="969038"/>
          </a:xfrm>
          <a:custGeom>
            <a:avLst/>
            <a:gdLst/>
            <a:ahLst/>
            <a:cxnLst/>
            <a:rect r="r" b="b" t="t" l="l"/>
            <a:pathLst>
              <a:path h="969038" w="969038">
                <a:moveTo>
                  <a:pt x="0" y="0"/>
                </a:moveTo>
                <a:lnTo>
                  <a:pt x="969038" y="0"/>
                </a:lnTo>
                <a:lnTo>
                  <a:pt x="969038" y="969038"/>
                </a:lnTo>
                <a:lnTo>
                  <a:pt x="0" y="9690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03133" y="7830415"/>
            <a:ext cx="2139815" cy="882674"/>
          </a:xfrm>
          <a:custGeom>
            <a:avLst/>
            <a:gdLst/>
            <a:ahLst/>
            <a:cxnLst/>
            <a:rect r="r" b="b" t="t" l="l"/>
            <a:pathLst>
              <a:path h="882674" w="2139815">
                <a:moveTo>
                  <a:pt x="0" y="0"/>
                </a:moveTo>
                <a:lnTo>
                  <a:pt x="2139815" y="0"/>
                </a:lnTo>
                <a:lnTo>
                  <a:pt x="2139815" y="882674"/>
                </a:lnTo>
                <a:lnTo>
                  <a:pt x="0" y="8826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86928" y="7788027"/>
            <a:ext cx="944776" cy="967451"/>
          </a:xfrm>
          <a:custGeom>
            <a:avLst/>
            <a:gdLst/>
            <a:ahLst/>
            <a:cxnLst/>
            <a:rect r="r" b="b" t="t" l="l"/>
            <a:pathLst>
              <a:path h="967451" w="944776">
                <a:moveTo>
                  <a:pt x="0" y="0"/>
                </a:moveTo>
                <a:lnTo>
                  <a:pt x="944776" y="0"/>
                </a:lnTo>
                <a:lnTo>
                  <a:pt x="944776" y="967451"/>
                </a:lnTo>
                <a:lnTo>
                  <a:pt x="0" y="9674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74604" y="7649408"/>
            <a:ext cx="1966346" cy="1106069"/>
          </a:xfrm>
          <a:custGeom>
            <a:avLst/>
            <a:gdLst/>
            <a:ahLst/>
            <a:cxnLst/>
            <a:rect r="r" b="b" t="t" l="l"/>
            <a:pathLst>
              <a:path h="1106069" w="1966346">
                <a:moveTo>
                  <a:pt x="0" y="0"/>
                </a:moveTo>
                <a:lnTo>
                  <a:pt x="1966346" y="0"/>
                </a:lnTo>
                <a:lnTo>
                  <a:pt x="1966346" y="1106070"/>
                </a:lnTo>
                <a:lnTo>
                  <a:pt x="0" y="1106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61341" y="7419897"/>
            <a:ext cx="1639517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GOOGLE PAY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100" y="960813"/>
            <a:ext cx="6515582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USO EN EMPRESAS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65161" y="7419897"/>
            <a:ext cx="1712271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EBAYMOTORS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40546" y="7419897"/>
            <a:ext cx="1712271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INSTRAGRAM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66678" y="7419897"/>
            <a:ext cx="1712271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NUBANK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06328" y="7419897"/>
            <a:ext cx="1712271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DISCORD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83086" y="7419897"/>
            <a:ext cx="1712271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UBEREATS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10019" y="7419897"/>
            <a:ext cx="1926043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MARKETWATCT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96294" y="7419897"/>
            <a:ext cx="1926043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SANVELLO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94755" y="7419897"/>
            <a:ext cx="1926043" cy="21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 spc="35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JUSTWATCH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1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3/ VENTAJAS Y DESVENTAJAS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065" y="606425"/>
            <a:ext cx="635128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3/ COMPARATIVA PUNTUAL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43431" y="1603964"/>
            <a:ext cx="7345139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109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VENTAJAS Y DESVENTAJAS DE CADA PLATAFORMA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8015" y="1623014"/>
            <a:ext cx="8198981" cy="221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Flutter</a:t>
            </a:r>
          </a:p>
          <a:p>
            <a:pPr algn="l">
              <a:lnSpc>
                <a:spcPts val="2128"/>
              </a:lnSpc>
            </a:pPr>
            <a:r>
              <a:rPr lang="en-US" sz="1400" i="true" b="true">
                <a:solidFill>
                  <a:srgbClr val="09285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Ventajas: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Compilación directa a código nativo, lo que mejora el rendimiento.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Compatible con múltiples plataformas (Android, iOS, Web, Windows, macOS, Linux).</a:t>
            </a:r>
          </a:p>
          <a:p>
            <a:pPr algn="l">
              <a:lnSpc>
                <a:spcPts val="2128"/>
              </a:lnSpc>
            </a:pPr>
            <a:r>
              <a:rPr lang="en-US" sz="1400" i="true" b="true">
                <a:solidFill>
                  <a:srgbClr val="09285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Desventajas: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Apps más pesadas en comparación con React Native.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Menor cantidad de paquetes de terceros en comparación con React Native.</a:t>
            </a: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8015" y="3958648"/>
            <a:ext cx="8198981" cy="275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React Native</a:t>
            </a:r>
          </a:p>
          <a:p>
            <a:pPr algn="l">
              <a:lnSpc>
                <a:spcPts val="2128"/>
              </a:lnSpc>
            </a:pPr>
            <a:r>
              <a:rPr lang="en-US" sz="1400" i="true" b="true">
                <a:solidFill>
                  <a:srgbClr val="09285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Ventajas: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Usa JavaScript y React, lo que facilita la adopción para desarrolladores web.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Gran comunidad y muchas librerías disponibles.</a:t>
            </a:r>
          </a:p>
          <a:p>
            <a:pPr algn="l">
              <a:lnSpc>
                <a:spcPts val="2128"/>
              </a:lnSpc>
            </a:pPr>
            <a:r>
              <a:rPr lang="en-US" sz="1400" i="true" b="true">
                <a:solidFill>
                  <a:srgbClr val="09285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Desventajas: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Depende del puente nativo (Bridge), lo que puede afectar el rendimiento en apps complejas.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Algu</a:t>
            </a: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nas funciones requieren módulos de terceros, lo que puede generar problemas de compatibilidad.</a:t>
            </a: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48015" y="6825621"/>
            <a:ext cx="8198981" cy="221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Ionic</a:t>
            </a:r>
          </a:p>
          <a:p>
            <a:pPr algn="l">
              <a:lnSpc>
                <a:spcPts val="2128"/>
              </a:lnSpc>
            </a:pPr>
            <a:r>
              <a:rPr lang="en-US" sz="1400" i="true" b="true">
                <a:solidFill>
                  <a:srgbClr val="09285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Ventajas: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Usa HTML, CSS y JavaScript, por lo que es fácil para desarrolladores web.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Amplia c</a:t>
            </a: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ompatibilidad con frameworks como Angular, React y Vue.</a:t>
            </a:r>
          </a:p>
          <a:p>
            <a:pPr algn="l">
              <a:lnSpc>
                <a:spcPts val="2128"/>
              </a:lnSpc>
            </a:pPr>
            <a:r>
              <a:rPr lang="en-US" sz="1400" i="true" b="true">
                <a:solidFill>
                  <a:srgbClr val="09285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Desventajas: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Menor rendimiento porque las apps corren dentro de un navegador (WebView).</a:t>
            </a:r>
          </a:p>
          <a:p>
            <a:pPr algn="l" marL="302270" indent="-151135" lvl="1">
              <a:lnSpc>
                <a:spcPts val="2128"/>
              </a:lnSpc>
              <a:buFont typeface="Arial"/>
              <a:buChar char="•"/>
            </a:pP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14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pende de Capacitor o Cordova para acceder a funciones nativas del dispositivo.</a:t>
            </a:r>
          </a:p>
          <a:p>
            <a:pPr algn="l">
              <a:lnSpc>
                <a:spcPts val="2280"/>
              </a:lnSpc>
            </a:pP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72153" y="5011582"/>
            <a:ext cx="7287694" cy="46402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5/ 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DAGhRqWeMhQ</dc:identifier>
  <dcterms:modified xsi:type="dcterms:W3CDTF">2011-08-01T06:04:30Z</dcterms:modified>
  <cp:revision>1</cp:revision>
  <dc:title>Presentación proyecto fin de grado profesional en color azul</dc:title>
</cp:coreProperties>
</file>